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4" r:id="rId6"/>
    <p:sldId id="26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8E4759D-B93B-752E-F253-26886E6DC467}" name="Anatole Melon" initials="AM" userId="1fb29fe9b5594dfa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3DCEDE-32AB-0CBE-3BD0-186D5EB5B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64C9210-3F9B-951F-8572-38D3352DB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4A3F2E-225D-DB35-0FE4-F6BD085E4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F6FF49-8A4A-30BA-ACE2-ECCED2B5A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827680-D357-7217-78C4-FA09CB708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656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505504-D765-E887-F55F-99F2042AD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00A74D-7021-E08D-CED2-0F3460FE3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90B176C-2A50-6E1E-B0C9-2258DD05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CDCB09-1802-00A4-CA9C-8CD9D5710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18FEC1-DD52-468F-63A4-C1B60A6CB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039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88D7A-BCE2-4A6C-B508-AA9B5CCE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1F2DD75-084A-334C-A784-AFAF26DED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F30FF6-93D7-5A2F-A657-7A62A4D55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BC58B33-D992-CBBF-9B0D-A3CD0BF20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8C8CBA9-15D2-162F-EADE-D025E48FF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610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BD1A9B-8A1D-B11D-FE0A-E5B2ECA48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1F15C7-FD10-BA7F-4372-54224B26D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9A7DA7-EB19-7673-6020-FB319B384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9FA21B-E251-4209-A1A3-9E36EA30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2AADC9E-410E-752F-0579-932C46FF7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7B9904-C2B5-9DF6-A382-131AF84BD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919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1236D1-52D0-01CA-E63D-3B1121F20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30EF6F-1F28-DA26-1485-4ACE63992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46CC0C4-8D5E-51BF-A26C-B0E17DD1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35C8CF5-07AA-A0A6-5740-B8CD9B119B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7E8CFC4-3EA7-F674-66CB-DFF3EB7001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2952CD-B1D8-3B46-94F8-9156A5BB2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BE936E3-D628-ED2F-C96E-FCA7CBCEE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439AA20-CA13-BDB7-37EC-FCB85765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50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3DCDF6-B8E0-6859-8714-82B66410D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8F5B79D-56F0-79C6-BEBE-8056ABFF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9C3C275-F5EA-3C91-7E4A-6AC9CD13D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FD4045-9CEF-2E39-34BC-1122A2081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5138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B31C67B-31C8-8255-2EBD-553806F46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94B98B-464F-8942-3698-F2701E696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847AB4-BB5C-CB94-6AEC-CE9A2B0C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06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3227B2-5629-2CAF-70BC-9615B1B8B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6F9F33-2F36-82B0-60C8-1D9FE9C28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325301E-D209-4A15-B21F-C391F8EE1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3160C88-7DF1-1356-232C-61FDD4F8B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F81316-2DF5-47B5-EF86-4E80B196A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C18F7E-E75E-165B-7722-59CFB8D6A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971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5B5AA9-5186-9A99-F044-BE00B90C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47CBF29-5966-FD25-6162-C8ACD45142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2B094B1-03FF-9265-9637-D6D2A2D74E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631C4D4-614F-2B61-7FFC-2B589CC1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9477E0D-F53C-9196-1240-F6BA8EE22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F8D2C4D-B0F4-A0DC-2C76-6824E697B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9868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4921D0-FD0E-9935-9AA5-9B517D836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134A3F-9FE3-A43A-8299-2FF24D1F6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5D1B929-8B60-B0D0-CF61-462625A70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D132A8-FA25-DFF8-E14E-20B4506C4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6FEAA0-257F-2F49-027F-0A0059529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164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02AF379-928F-AF6B-0B7D-F5CE4BCF97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3EE705F-294B-80D6-BEFD-D95A53C49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D3D5C8-3840-1CA7-9DC3-CC8A7E4A0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2487D5-0B7E-C664-CA37-0112F485A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F6BA68-CA61-EE83-4D9B-8E54725CD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9593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755878A-998F-985B-8922-1C2E82DF9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E2FD69-9608-9CE2-7343-E22E7569B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B6624-4394-18FE-A86D-F9928AE454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C8168F-B74C-4525-A6F8-EBA84798C097}" type="datetimeFigureOut">
              <a:rPr lang="fr-FR" smtClean="0"/>
              <a:t>09/08/2025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83B4DA-36C8-E974-6DCD-4B7B39E75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AA1DA8-571F-E60E-1C6B-AD749D546D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827C19-B260-4F9A-9716-37654E817EC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3531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71B7C718-0346-F428-A9DD-3062DC9D89A0}"/>
              </a:ext>
            </a:extLst>
          </p:cNvPr>
          <p:cNvSpPr/>
          <p:nvPr/>
        </p:nvSpPr>
        <p:spPr>
          <a:xfrm>
            <a:off x="8702040" y="2660904"/>
            <a:ext cx="502920" cy="49377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B63D851-35F2-840A-48CC-99E020A96E48}"/>
              </a:ext>
            </a:extLst>
          </p:cNvPr>
          <p:cNvSpPr/>
          <p:nvPr/>
        </p:nvSpPr>
        <p:spPr>
          <a:xfrm>
            <a:off x="8702040" y="1999488"/>
            <a:ext cx="502920" cy="49377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E4D0C65-3D1E-4438-65FF-2900DDC23EC7}"/>
              </a:ext>
            </a:extLst>
          </p:cNvPr>
          <p:cNvSpPr/>
          <p:nvPr/>
        </p:nvSpPr>
        <p:spPr>
          <a:xfrm>
            <a:off x="8702040" y="3322320"/>
            <a:ext cx="502920" cy="49377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4EFF407-5BEB-708A-1129-B0BBA08C8E01}"/>
              </a:ext>
            </a:extLst>
          </p:cNvPr>
          <p:cNvSpPr/>
          <p:nvPr/>
        </p:nvSpPr>
        <p:spPr>
          <a:xfrm>
            <a:off x="8702040" y="3983736"/>
            <a:ext cx="502920" cy="49377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F33734F-ACBC-61FC-9AE5-3B04B54C49C4}"/>
              </a:ext>
            </a:extLst>
          </p:cNvPr>
          <p:cNvSpPr txBox="1"/>
          <p:nvPr/>
        </p:nvSpPr>
        <p:spPr>
          <a:xfrm>
            <a:off x="8325612" y="1250145"/>
            <a:ext cx="2121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couche N-1 (dernière couche)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E9012F5-A791-FBFC-D870-3FBACB4A66C1}"/>
              </a:ext>
            </a:extLst>
          </p:cNvPr>
          <p:cNvSpPr txBox="1"/>
          <p:nvPr/>
        </p:nvSpPr>
        <p:spPr>
          <a:xfrm>
            <a:off x="5684333" y="90102"/>
            <a:ext cx="2121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couche N-2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C9A9DB3-BC7C-EB54-05F8-4504619A172F}"/>
              </a:ext>
            </a:extLst>
          </p:cNvPr>
          <p:cNvSpPr txBox="1"/>
          <p:nvPr/>
        </p:nvSpPr>
        <p:spPr>
          <a:xfrm>
            <a:off x="9668256" y="501211"/>
            <a:ext cx="1679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nœud j (y-axis)</a:t>
            </a:r>
          </a:p>
        </p:txBody>
      </p: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E5A70CA7-35D5-B7E7-8BCA-DC648E084A88}"/>
              </a:ext>
            </a:extLst>
          </p:cNvPr>
          <p:cNvGrpSpPr/>
          <p:nvPr/>
        </p:nvGrpSpPr>
        <p:grpSpPr>
          <a:xfrm>
            <a:off x="7993189" y="76577"/>
            <a:ext cx="1146044" cy="1210425"/>
            <a:chOff x="600457" y="5216545"/>
            <a:chExt cx="1146044" cy="1210425"/>
          </a:xfrm>
        </p:grpSpPr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D8B12229-535C-86DD-FD04-0328B96BCCC0}"/>
                </a:ext>
              </a:extLst>
            </p:cNvPr>
            <p:cNvCxnSpPr/>
            <p:nvPr/>
          </p:nvCxnSpPr>
          <p:spPr>
            <a:xfrm flipV="1">
              <a:off x="722376" y="5550408"/>
              <a:ext cx="0" cy="6949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avec flèche 12">
              <a:extLst>
                <a:ext uri="{FF2B5EF4-FFF2-40B4-BE49-F238E27FC236}">
                  <a16:creationId xmlns:a16="http://schemas.microsoft.com/office/drawing/2014/main" id="{A7FC5548-7055-7B28-E858-C833730941C0}"/>
                </a:ext>
              </a:extLst>
            </p:cNvPr>
            <p:cNvCxnSpPr>
              <a:cxnSpLocks/>
            </p:cNvCxnSpPr>
            <p:nvPr/>
          </p:nvCxnSpPr>
          <p:spPr>
            <a:xfrm>
              <a:off x="722376" y="6242304"/>
              <a:ext cx="7802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CA30D569-AB1F-C46C-E41A-92BA8D67E18B}"/>
                </a:ext>
              </a:extLst>
            </p:cNvPr>
            <p:cNvSpPr txBox="1"/>
            <p:nvPr/>
          </p:nvSpPr>
          <p:spPr>
            <a:xfrm>
              <a:off x="1502664" y="6057638"/>
              <a:ext cx="2438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x</a:t>
              </a:r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1A2294B7-CE03-5D4F-6BA5-C9D2EB80EE62}"/>
                </a:ext>
              </a:extLst>
            </p:cNvPr>
            <p:cNvSpPr txBox="1"/>
            <p:nvPr/>
          </p:nvSpPr>
          <p:spPr>
            <a:xfrm>
              <a:off x="600457" y="5216545"/>
              <a:ext cx="2438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y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B21DEB70-7EAA-3CC0-B7FD-788D3A2C066B}"/>
                  </a:ext>
                </a:extLst>
              </p:cNvPr>
              <p:cNvSpPr txBox="1"/>
              <p:nvPr/>
            </p:nvSpPr>
            <p:spPr>
              <a:xfrm>
                <a:off x="8762237" y="2038498"/>
                <a:ext cx="442723" cy="3749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B21DEB70-7EAA-3CC0-B7FD-788D3A2C0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2237" y="2038498"/>
                <a:ext cx="442723" cy="374911"/>
              </a:xfrm>
              <a:prstGeom prst="rect">
                <a:avLst/>
              </a:prstGeom>
              <a:blipFill>
                <a:blip r:embed="rId2"/>
                <a:stretch>
                  <a:fillRect r="-424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336A179A-FB7A-5795-1787-9D617C6D34FB}"/>
                  </a:ext>
                </a:extLst>
              </p:cNvPr>
              <p:cNvSpPr txBox="1"/>
              <p:nvPr/>
            </p:nvSpPr>
            <p:spPr>
              <a:xfrm>
                <a:off x="8732138" y="2690777"/>
                <a:ext cx="442723" cy="372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336A179A-FB7A-5795-1787-9D617C6D3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138" y="2690777"/>
                <a:ext cx="442723" cy="372666"/>
              </a:xfrm>
              <a:prstGeom prst="rect">
                <a:avLst/>
              </a:prstGeom>
              <a:blipFill>
                <a:blip r:embed="rId3"/>
                <a:stretch>
                  <a:fillRect r="-424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E49E73E4-3224-46A0-A6B6-478C827A601B}"/>
                  </a:ext>
                </a:extLst>
              </p:cNvPr>
              <p:cNvSpPr txBox="1"/>
              <p:nvPr/>
            </p:nvSpPr>
            <p:spPr>
              <a:xfrm>
                <a:off x="8732138" y="4049982"/>
                <a:ext cx="442723" cy="415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E49E73E4-3224-46A0-A6B6-478C827A6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138" y="4049982"/>
                <a:ext cx="442723" cy="415755"/>
              </a:xfrm>
              <a:prstGeom prst="rect">
                <a:avLst/>
              </a:prstGeom>
              <a:blipFill>
                <a:blip r:embed="rId4"/>
                <a:stretch>
                  <a:fillRect r="-42466" b="-724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059FB15D-D420-4DC4-5907-2D7AA1C57F8A}"/>
                  </a:ext>
                </a:extLst>
              </p:cNvPr>
              <p:cNvSpPr txBox="1"/>
              <p:nvPr/>
            </p:nvSpPr>
            <p:spPr>
              <a:xfrm>
                <a:off x="8319514" y="2512891"/>
                <a:ext cx="442723" cy="3103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059FB15D-D420-4DC4-5907-2D7AA1C57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9514" y="2512891"/>
                <a:ext cx="442723" cy="310341"/>
              </a:xfrm>
              <a:prstGeom prst="rect">
                <a:avLst/>
              </a:prstGeom>
              <a:blipFill>
                <a:blip r:embed="rId5"/>
                <a:stretch>
                  <a:fillRect r="-15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433F21C9-F1AC-FC9A-9AED-185228091A53}"/>
                  </a:ext>
                </a:extLst>
              </p:cNvPr>
              <p:cNvSpPr txBox="1"/>
              <p:nvPr/>
            </p:nvSpPr>
            <p:spPr>
              <a:xfrm>
                <a:off x="8319513" y="1908251"/>
                <a:ext cx="442723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433F21C9-F1AC-FC9A-9AED-185228091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9513" y="1908251"/>
                <a:ext cx="442723" cy="312073"/>
              </a:xfrm>
              <a:prstGeom prst="rect">
                <a:avLst/>
              </a:prstGeom>
              <a:blipFill>
                <a:blip r:embed="rId6"/>
                <a:stretch>
                  <a:fillRect r="-15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36F39412-4812-88AB-F0A9-E1B5CB38BE21}"/>
                  </a:ext>
                </a:extLst>
              </p:cNvPr>
              <p:cNvSpPr txBox="1"/>
              <p:nvPr/>
            </p:nvSpPr>
            <p:spPr>
              <a:xfrm>
                <a:off x="8439912" y="3817435"/>
                <a:ext cx="442723" cy="3438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36F39412-4812-88AB-F0A9-E1B5CB38B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912" y="3817435"/>
                <a:ext cx="442723" cy="343877"/>
              </a:xfrm>
              <a:prstGeom prst="rect">
                <a:avLst/>
              </a:prstGeom>
              <a:blipFill>
                <a:blip r:embed="rId7"/>
                <a:stretch>
                  <a:fillRect r="-13889" b="-35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oupe 77">
            <a:extLst>
              <a:ext uri="{FF2B5EF4-FFF2-40B4-BE49-F238E27FC236}">
                <a16:creationId xmlns:a16="http://schemas.microsoft.com/office/drawing/2014/main" id="{BCC01C9C-90D6-C641-0CEB-AB844DFCD3AE}"/>
              </a:ext>
            </a:extLst>
          </p:cNvPr>
          <p:cNvGrpSpPr/>
          <p:nvPr/>
        </p:nvGrpSpPr>
        <p:grpSpPr>
          <a:xfrm>
            <a:off x="6715125" y="855303"/>
            <a:ext cx="1840798" cy="5147394"/>
            <a:chOff x="6715125" y="855303"/>
            <a:chExt cx="1840798" cy="5147394"/>
          </a:xfrm>
        </p:grpSpPr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4624AE8D-726D-D089-4700-9731E9E2F10D}"/>
                </a:ext>
              </a:extLst>
            </p:cNvPr>
            <p:cNvCxnSpPr>
              <a:cxnSpLocks/>
            </p:cNvCxnSpPr>
            <p:nvPr/>
          </p:nvCxnSpPr>
          <p:spPr>
            <a:xfrm>
              <a:off x="6745224" y="855303"/>
              <a:ext cx="1795650" cy="34315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31C3FEBA-D033-92D3-EBBB-220B22510DBE}"/>
                </a:ext>
              </a:extLst>
            </p:cNvPr>
            <p:cNvCxnSpPr>
              <a:cxnSpLocks/>
            </p:cNvCxnSpPr>
            <p:nvPr/>
          </p:nvCxnSpPr>
          <p:spPr>
            <a:xfrm>
              <a:off x="6775322" y="1430851"/>
              <a:ext cx="1753175" cy="28559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4F1E5DFE-A7FF-082D-A577-46E5EB9DC319}"/>
                </a:ext>
              </a:extLst>
            </p:cNvPr>
            <p:cNvCxnSpPr>
              <a:cxnSpLocks/>
            </p:cNvCxnSpPr>
            <p:nvPr/>
          </p:nvCxnSpPr>
          <p:spPr>
            <a:xfrm>
              <a:off x="6802748" y="2103120"/>
              <a:ext cx="1738126" cy="21547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9BEB472A-FD56-05C3-7DE3-FF1F4BCC2C34}"/>
                </a:ext>
              </a:extLst>
            </p:cNvPr>
            <p:cNvCxnSpPr>
              <a:cxnSpLocks/>
            </p:cNvCxnSpPr>
            <p:nvPr/>
          </p:nvCxnSpPr>
          <p:spPr>
            <a:xfrm>
              <a:off x="6802743" y="2813892"/>
              <a:ext cx="1753180" cy="14635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eur droit avec flèche 44">
              <a:extLst>
                <a:ext uri="{FF2B5EF4-FFF2-40B4-BE49-F238E27FC236}">
                  <a16:creationId xmlns:a16="http://schemas.microsoft.com/office/drawing/2014/main" id="{DC2BACFE-7C0C-5088-B7E9-A131073D73B1}"/>
                </a:ext>
              </a:extLst>
            </p:cNvPr>
            <p:cNvCxnSpPr>
              <a:cxnSpLocks/>
            </p:cNvCxnSpPr>
            <p:nvPr/>
          </p:nvCxnSpPr>
          <p:spPr>
            <a:xfrm>
              <a:off x="6782842" y="3396977"/>
              <a:ext cx="1773076" cy="8463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avec flèche 46">
              <a:extLst>
                <a:ext uri="{FF2B5EF4-FFF2-40B4-BE49-F238E27FC236}">
                  <a16:creationId xmlns:a16="http://schemas.microsoft.com/office/drawing/2014/main" id="{53E1BAD5-7622-5C4C-6873-C7744023FDF3}"/>
                </a:ext>
              </a:extLst>
            </p:cNvPr>
            <p:cNvCxnSpPr>
              <a:cxnSpLocks/>
            </p:cNvCxnSpPr>
            <p:nvPr/>
          </p:nvCxnSpPr>
          <p:spPr>
            <a:xfrm>
              <a:off x="6797896" y="4023513"/>
              <a:ext cx="1758022" cy="23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4582C90B-3244-99F4-7E70-C6CC965697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15125" y="4240333"/>
              <a:ext cx="1813372" cy="480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eur droit avec flèche 51">
              <a:extLst>
                <a:ext uri="{FF2B5EF4-FFF2-40B4-BE49-F238E27FC236}">
                  <a16:creationId xmlns:a16="http://schemas.microsoft.com/office/drawing/2014/main" id="{C683BE0F-019F-8718-EB49-E274B8F771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5037" y="4230624"/>
              <a:ext cx="1783460" cy="11705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5A2702F0-F4AD-7352-EB8B-66E2D168E5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97896" y="4206223"/>
              <a:ext cx="1730601" cy="17964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A4FC77D4-FA23-0279-2D82-AD6EC13E74BA}"/>
                  </a:ext>
                </a:extLst>
              </p:cNvPr>
              <p:cNvSpPr txBox="1"/>
              <p:nvPr/>
            </p:nvSpPr>
            <p:spPr>
              <a:xfrm>
                <a:off x="6956107" y="4764227"/>
                <a:ext cx="6096000" cy="2040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x-IV_mathan" sz="180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x-IV_mathan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d>
                      <m:r>
                        <a:rPr lang="x-IV_mathan" sz="1800" i="1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Sup>
                        <m:sSubSupPr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_1)</m:t>
                          </m:r>
                        </m:sup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x-IV_mathan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∗</m:t>
                          </m:r>
                          <m:sSubSup>
                            <m:sSubSupPr>
                              <m:ctrlPr>
                                <a:rPr lang="x-IV_mathan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x-IV_mathan" sz="1800" i="1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x-IV_mathan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 marL="0" marR="0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𝑖𝑚𝑎𝑔𝑒</m:t>
                          </m:r>
                        </m:sub>
                        <m:sup/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sup>
                        <m:e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</m:sSub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x-IV_mathan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A4FC77D4-FA23-0279-2D82-AD6EC13E7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6107" y="4764227"/>
                <a:ext cx="6096000" cy="20406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6572CAE4-51D9-8CDB-1CAB-6DC42707F13D}"/>
                  </a:ext>
                </a:extLst>
              </p:cNvPr>
              <p:cNvSpPr txBox="1"/>
              <p:nvPr/>
            </p:nvSpPr>
            <p:spPr>
              <a:xfrm>
                <a:off x="6956107" y="995094"/>
                <a:ext cx="442723" cy="3438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,0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6572CAE4-51D9-8CDB-1CAB-6DC42707F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6107" y="995094"/>
                <a:ext cx="442723" cy="343877"/>
              </a:xfrm>
              <a:prstGeom prst="rect">
                <a:avLst/>
              </a:prstGeom>
              <a:blipFill>
                <a:blip r:embed="rId9"/>
                <a:stretch>
                  <a:fillRect r="-21918" b="-35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ZoneTexte 60">
                <a:extLst>
                  <a:ext uri="{FF2B5EF4-FFF2-40B4-BE49-F238E27FC236}">
                    <a16:creationId xmlns:a16="http://schemas.microsoft.com/office/drawing/2014/main" id="{F4073040-DDE6-5711-1763-9183BEACD5D6}"/>
                  </a:ext>
                </a:extLst>
              </p:cNvPr>
              <p:cNvSpPr txBox="1"/>
              <p:nvPr/>
            </p:nvSpPr>
            <p:spPr>
              <a:xfrm>
                <a:off x="6719887" y="1505800"/>
                <a:ext cx="442723" cy="3438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61" name="ZoneTexte 60">
                <a:extLst>
                  <a:ext uri="{FF2B5EF4-FFF2-40B4-BE49-F238E27FC236}">
                    <a16:creationId xmlns:a16="http://schemas.microsoft.com/office/drawing/2014/main" id="{F4073040-DDE6-5711-1763-9183BEACD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9887" y="1505800"/>
                <a:ext cx="442723" cy="343877"/>
              </a:xfrm>
              <a:prstGeom prst="rect">
                <a:avLst/>
              </a:prstGeom>
              <a:blipFill>
                <a:blip r:embed="rId10"/>
                <a:stretch>
                  <a:fillRect r="-21918" b="-53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E5C3C0E7-806F-E2BA-4046-0242EA4EEE1C}"/>
                  </a:ext>
                </a:extLst>
              </p:cNvPr>
              <p:cNvSpPr txBox="1"/>
              <p:nvPr/>
            </p:nvSpPr>
            <p:spPr>
              <a:xfrm>
                <a:off x="6030354" y="3796014"/>
                <a:ext cx="442723" cy="415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E5C3C0E7-806F-E2BA-4046-0242EA4EE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354" y="3796014"/>
                <a:ext cx="442723" cy="415755"/>
              </a:xfrm>
              <a:prstGeom prst="rect">
                <a:avLst/>
              </a:prstGeom>
              <a:blipFill>
                <a:blip r:embed="rId11"/>
                <a:stretch>
                  <a:fillRect r="-42466" b="-7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0" name="Groupe 139">
            <a:extLst>
              <a:ext uri="{FF2B5EF4-FFF2-40B4-BE49-F238E27FC236}">
                <a16:creationId xmlns:a16="http://schemas.microsoft.com/office/drawing/2014/main" id="{A15D3E4E-C0F7-C393-CE45-4BDE7F0195B2}"/>
              </a:ext>
            </a:extLst>
          </p:cNvPr>
          <p:cNvGrpSpPr/>
          <p:nvPr/>
        </p:nvGrpSpPr>
        <p:grpSpPr>
          <a:xfrm>
            <a:off x="6248400" y="674947"/>
            <a:ext cx="502920" cy="5716709"/>
            <a:chOff x="6096000" y="522547"/>
            <a:chExt cx="502920" cy="5716709"/>
          </a:xfrm>
        </p:grpSpPr>
        <p:grpSp>
          <p:nvGrpSpPr>
            <p:cNvPr id="170" name="Groupe 169">
              <a:extLst>
                <a:ext uri="{FF2B5EF4-FFF2-40B4-BE49-F238E27FC236}">
                  <a16:creationId xmlns:a16="http://schemas.microsoft.com/office/drawing/2014/main" id="{FCAAE0C9-72C1-0405-92B1-88FBAD98C986}"/>
                </a:ext>
              </a:extLst>
            </p:cNvPr>
            <p:cNvGrpSpPr/>
            <p:nvPr/>
          </p:nvGrpSpPr>
          <p:grpSpPr>
            <a:xfrm>
              <a:off x="6096000" y="522547"/>
              <a:ext cx="502920" cy="2478024"/>
              <a:chOff x="8854440" y="2151888"/>
              <a:chExt cx="502920" cy="2478024"/>
            </a:xfrm>
          </p:grpSpPr>
          <p:sp>
            <p:nvSpPr>
              <p:cNvPr id="177" name="Ellipse 176">
                <a:extLst>
                  <a:ext uri="{FF2B5EF4-FFF2-40B4-BE49-F238E27FC236}">
                    <a16:creationId xmlns:a16="http://schemas.microsoft.com/office/drawing/2014/main" id="{EEF6442D-68B1-5575-12F7-40D3B816A5F4}"/>
                  </a:ext>
                </a:extLst>
              </p:cNvPr>
              <p:cNvSpPr/>
              <p:nvPr/>
            </p:nvSpPr>
            <p:spPr>
              <a:xfrm>
                <a:off x="8854440" y="2813304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8" name="Ellipse 177">
                <a:extLst>
                  <a:ext uri="{FF2B5EF4-FFF2-40B4-BE49-F238E27FC236}">
                    <a16:creationId xmlns:a16="http://schemas.microsoft.com/office/drawing/2014/main" id="{8B3E7D77-4949-B861-235C-93B058743507}"/>
                  </a:ext>
                </a:extLst>
              </p:cNvPr>
              <p:cNvSpPr/>
              <p:nvPr/>
            </p:nvSpPr>
            <p:spPr>
              <a:xfrm>
                <a:off x="8854440" y="2151888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9" name="Ellipse 178">
                <a:extLst>
                  <a:ext uri="{FF2B5EF4-FFF2-40B4-BE49-F238E27FC236}">
                    <a16:creationId xmlns:a16="http://schemas.microsoft.com/office/drawing/2014/main" id="{170A3CEA-84CE-6F8B-F5F1-43758A9CFADA}"/>
                  </a:ext>
                </a:extLst>
              </p:cNvPr>
              <p:cNvSpPr/>
              <p:nvPr/>
            </p:nvSpPr>
            <p:spPr>
              <a:xfrm>
                <a:off x="8854440" y="3474720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0" name="Ellipse 179">
                <a:extLst>
                  <a:ext uri="{FF2B5EF4-FFF2-40B4-BE49-F238E27FC236}">
                    <a16:creationId xmlns:a16="http://schemas.microsoft.com/office/drawing/2014/main" id="{AFDC4115-DBC4-AE06-7CEA-D69B06D04AE5}"/>
                  </a:ext>
                </a:extLst>
              </p:cNvPr>
              <p:cNvSpPr/>
              <p:nvPr/>
            </p:nvSpPr>
            <p:spPr>
              <a:xfrm>
                <a:off x="8854440" y="4136136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1" name="Groupe 170">
              <a:extLst>
                <a:ext uri="{FF2B5EF4-FFF2-40B4-BE49-F238E27FC236}">
                  <a16:creationId xmlns:a16="http://schemas.microsoft.com/office/drawing/2014/main" id="{E1C22079-CE00-00E8-135B-3AC3BDD8B4A9}"/>
                </a:ext>
              </a:extLst>
            </p:cNvPr>
            <p:cNvGrpSpPr/>
            <p:nvPr/>
          </p:nvGrpSpPr>
          <p:grpSpPr>
            <a:xfrm>
              <a:off x="6096000" y="3131635"/>
              <a:ext cx="502920" cy="2478024"/>
              <a:chOff x="8854440" y="2151888"/>
              <a:chExt cx="502920" cy="2478024"/>
            </a:xfrm>
          </p:grpSpPr>
          <p:sp>
            <p:nvSpPr>
              <p:cNvPr id="173" name="Ellipse 172">
                <a:extLst>
                  <a:ext uri="{FF2B5EF4-FFF2-40B4-BE49-F238E27FC236}">
                    <a16:creationId xmlns:a16="http://schemas.microsoft.com/office/drawing/2014/main" id="{F580F971-9DAF-0E0F-866E-2F92D28529A6}"/>
                  </a:ext>
                </a:extLst>
              </p:cNvPr>
              <p:cNvSpPr/>
              <p:nvPr/>
            </p:nvSpPr>
            <p:spPr>
              <a:xfrm>
                <a:off x="8854440" y="2813304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4" name="Ellipse 173">
                <a:extLst>
                  <a:ext uri="{FF2B5EF4-FFF2-40B4-BE49-F238E27FC236}">
                    <a16:creationId xmlns:a16="http://schemas.microsoft.com/office/drawing/2014/main" id="{5681205A-7A24-D26A-25EF-C06C57F29DDB}"/>
                  </a:ext>
                </a:extLst>
              </p:cNvPr>
              <p:cNvSpPr/>
              <p:nvPr/>
            </p:nvSpPr>
            <p:spPr>
              <a:xfrm>
                <a:off x="8854440" y="2151888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5" name="Ellipse 174">
                <a:extLst>
                  <a:ext uri="{FF2B5EF4-FFF2-40B4-BE49-F238E27FC236}">
                    <a16:creationId xmlns:a16="http://schemas.microsoft.com/office/drawing/2014/main" id="{7F4BC8C8-1CA3-2E67-4D52-C28D660EBCA9}"/>
                  </a:ext>
                </a:extLst>
              </p:cNvPr>
              <p:cNvSpPr/>
              <p:nvPr/>
            </p:nvSpPr>
            <p:spPr>
              <a:xfrm>
                <a:off x="8854440" y="3474720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6" name="Ellipse 175">
                <a:extLst>
                  <a:ext uri="{FF2B5EF4-FFF2-40B4-BE49-F238E27FC236}">
                    <a16:creationId xmlns:a16="http://schemas.microsoft.com/office/drawing/2014/main" id="{DFB601BA-F11F-0DFA-5116-6EF4117362A8}"/>
                  </a:ext>
                </a:extLst>
              </p:cNvPr>
              <p:cNvSpPr/>
              <p:nvPr/>
            </p:nvSpPr>
            <p:spPr>
              <a:xfrm>
                <a:off x="8854440" y="4136136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0D414275-4F91-7596-F3A9-C20174F4233B}"/>
                </a:ext>
              </a:extLst>
            </p:cNvPr>
            <p:cNvSpPr/>
            <p:nvPr/>
          </p:nvSpPr>
          <p:spPr>
            <a:xfrm>
              <a:off x="6096000" y="5745480"/>
              <a:ext cx="502920" cy="49377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ZoneTexte 140">
                <a:extLst>
                  <a:ext uri="{FF2B5EF4-FFF2-40B4-BE49-F238E27FC236}">
                    <a16:creationId xmlns:a16="http://schemas.microsoft.com/office/drawing/2014/main" id="{99ACE5FD-927A-0B81-34BC-41EF077C0188}"/>
                  </a:ext>
                </a:extLst>
              </p:cNvPr>
              <p:cNvSpPr txBox="1"/>
              <p:nvPr/>
            </p:nvSpPr>
            <p:spPr>
              <a:xfrm>
                <a:off x="6220871" y="697622"/>
                <a:ext cx="442723" cy="3749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1" name="ZoneTexte 140">
                <a:extLst>
                  <a:ext uri="{FF2B5EF4-FFF2-40B4-BE49-F238E27FC236}">
                    <a16:creationId xmlns:a16="http://schemas.microsoft.com/office/drawing/2014/main" id="{99ACE5FD-927A-0B81-34BC-41EF077C0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871" y="697622"/>
                <a:ext cx="442723" cy="374911"/>
              </a:xfrm>
              <a:prstGeom prst="rect">
                <a:avLst/>
              </a:prstGeom>
              <a:blipFill>
                <a:blip r:embed="rId12"/>
                <a:stretch>
                  <a:fillRect r="-424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ZoneTexte 141">
                <a:extLst>
                  <a:ext uri="{FF2B5EF4-FFF2-40B4-BE49-F238E27FC236}">
                    <a16:creationId xmlns:a16="http://schemas.microsoft.com/office/drawing/2014/main" id="{C1189EA4-C0F9-66F4-7A54-4ABB6F9FAEA9}"/>
                  </a:ext>
                </a:extLst>
              </p:cNvPr>
              <p:cNvSpPr txBox="1"/>
              <p:nvPr/>
            </p:nvSpPr>
            <p:spPr>
              <a:xfrm>
                <a:off x="6193154" y="1379000"/>
                <a:ext cx="442723" cy="372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2" name="ZoneTexte 141">
                <a:extLst>
                  <a:ext uri="{FF2B5EF4-FFF2-40B4-BE49-F238E27FC236}">
                    <a16:creationId xmlns:a16="http://schemas.microsoft.com/office/drawing/2014/main" id="{C1189EA4-C0F9-66F4-7A54-4ABB6F9FA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154" y="1379000"/>
                <a:ext cx="442723" cy="372666"/>
              </a:xfrm>
              <a:prstGeom prst="rect">
                <a:avLst/>
              </a:prstGeom>
              <a:blipFill>
                <a:blip r:embed="rId13"/>
                <a:stretch>
                  <a:fillRect r="-41096" b="-163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DB5AD17D-7823-CD05-D121-38083951EA46}"/>
                  </a:ext>
                </a:extLst>
              </p:cNvPr>
              <p:cNvSpPr txBox="1"/>
              <p:nvPr/>
            </p:nvSpPr>
            <p:spPr>
              <a:xfrm>
                <a:off x="5911783" y="487354"/>
                <a:ext cx="442723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DB5AD17D-7823-CD05-D121-38083951E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783" y="487354"/>
                <a:ext cx="442723" cy="312073"/>
              </a:xfrm>
              <a:prstGeom prst="rect">
                <a:avLst/>
              </a:prstGeom>
              <a:blipFill>
                <a:blip r:embed="rId14"/>
                <a:stretch>
                  <a:fillRect r="-15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ZoneTexte 145">
                <a:extLst>
                  <a:ext uri="{FF2B5EF4-FFF2-40B4-BE49-F238E27FC236}">
                    <a16:creationId xmlns:a16="http://schemas.microsoft.com/office/drawing/2014/main" id="{6C2724E6-38C9-617D-5501-41FC2796431A}"/>
                  </a:ext>
                </a:extLst>
              </p:cNvPr>
              <p:cNvSpPr txBox="1"/>
              <p:nvPr/>
            </p:nvSpPr>
            <p:spPr>
              <a:xfrm>
                <a:off x="5900641" y="1198126"/>
                <a:ext cx="442723" cy="3103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46" name="ZoneTexte 145">
                <a:extLst>
                  <a:ext uri="{FF2B5EF4-FFF2-40B4-BE49-F238E27FC236}">
                    <a16:creationId xmlns:a16="http://schemas.microsoft.com/office/drawing/2014/main" id="{6C2724E6-38C9-617D-5501-41FC27964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0641" y="1198126"/>
                <a:ext cx="442723" cy="310341"/>
              </a:xfrm>
              <a:prstGeom prst="rect">
                <a:avLst/>
              </a:prstGeom>
              <a:blipFill>
                <a:blip r:embed="rId15"/>
                <a:stretch>
                  <a:fillRect r="-136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ZoneTexte 146">
                <a:extLst>
                  <a:ext uri="{FF2B5EF4-FFF2-40B4-BE49-F238E27FC236}">
                    <a16:creationId xmlns:a16="http://schemas.microsoft.com/office/drawing/2014/main" id="{FFB4970B-ACE9-BFC6-97F2-F8F515EA931A}"/>
                  </a:ext>
                </a:extLst>
              </p:cNvPr>
              <p:cNvSpPr txBox="1"/>
              <p:nvPr/>
            </p:nvSpPr>
            <p:spPr>
              <a:xfrm>
                <a:off x="5921783" y="3749464"/>
                <a:ext cx="442723" cy="3438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b="0" i="1" smtClean="0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47" name="ZoneTexte 146">
                <a:extLst>
                  <a:ext uri="{FF2B5EF4-FFF2-40B4-BE49-F238E27FC236}">
                    <a16:creationId xmlns:a16="http://schemas.microsoft.com/office/drawing/2014/main" id="{FFB4970B-ACE9-BFC6-97F2-F8F515EA9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783" y="3749464"/>
                <a:ext cx="442723" cy="343877"/>
              </a:xfrm>
              <a:prstGeom prst="rect">
                <a:avLst/>
              </a:prstGeom>
              <a:blipFill>
                <a:blip r:embed="rId16"/>
                <a:stretch>
                  <a:fillRect r="-13699" b="-53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ZoneTexte 266">
                <a:extLst>
                  <a:ext uri="{FF2B5EF4-FFF2-40B4-BE49-F238E27FC236}">
                    <a16:creationId xmlns:a16="http://schemas.microsoft.com/office/drawing/2014/main" id="{CF37661B-89F1-426D-BA4F-01DD46AE70F6}"/>
                  </a:ext>
                </a:extLst>
              </p:cNvPr>
              <p:cNvSpPr txBox="1"/>
              <p:nvPr/>
            </p:nvSpPr>
            <p:spPr>
              <a:xfrm>
                <a:off x="-349577" y="-279685"/>
                <a:ext cx="6274489" cy="79941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/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=2 ∗</m:t>
                      </m:r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dirty="0"/>
              </a:p>
              <a:p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⇒ </m:t>
                      </m:r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=2 ∗</m:t>
                      </m:r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600" b="0" dirty="0"/>
              </a:p>
              <a:p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/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=2 ∗</m:t>
                      </m:r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dirty="0"/>
              </a:p>
              <a:p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⇒ </m:t>
                      </m:r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=−2 ∗</m:t>
                      </m:r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FR" sz="1600" b="0" i="1" dirty="0">
                  <a:latin typeface="Cambria Math" panose="02040503050406030204" pitchFamily="18" charset="0"/>
                </a:endParaRPr>
              </a:p>
              <a:p>
                <a:endParaRPr lang="fr-FR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/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sup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2 ∗</m:t>
                          </m:r>
                          <m:d>
                            <m:d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f>
                            <m:f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dirty="0"/>
              </a:p>
              <a:p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⇒ </m:t>
                      </m:r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bSup>
                        </m:den>
                      </m:f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sup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−2 ∗</m:t>
                          </m:r>
                          <m:d>
                            <m:d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bSup>
                            <m:sSub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fr-FR" sz="1600" dirty="0"/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267" name="ZoneTexte 266">
                <a:extLst>
                  <a:ext uri="{FF2B5EF4-FFF2-40B4-BE49-F238E27FC236}">
                    <a16:creationId xmlns:a16="http://schemas.microsoft.com/office/drawing/2014/main" id="{CF37661B-89F1-426D-BA4F-01DD46AE7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49577" y="-279685"/>
                <a:ext cx="6274489" cy="799417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0818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e 47">
            <a:extLst>
              <a:ext uri="{FF2B5EF4-FFF2-40B4-BE49-F238E27FC236}">
                <a16:creationId xmlns:a16="http://schemas.microsoft.com/office/drawing/2014/main" id="{A405B9F3-0E38-D495-4833-A8C48102FC52}"/>
              </a:ext>
            </a:extLst>
          </p:cNvPr>
          <p:cNvGrpSpPr/>
          <p:nvPr/>
        </p:nvGrpSpPr>
        <p:grpSpPr>
          <a:xfrm>
            <a:off x="6258496" y="517489"/>
            <a:ext cx="3073400" cy="5904302"/>
            <a:chOff x="406336" y="370169"/>
            <a:chExt cx="3073400" cy="5904302"/>
          </a:xfrm>
        </p:grpSpPr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F9A2952D-43B2-A268-DE45-71F16354E8EE}"/>
                </a:ext>
              </a:extLst>
            </p:cNvPr>
            <p:cNvGrpSpPr/>
            <p:nvPr/>
          </p:nvGrpSpPr>
          <p:grpSpPr>
            <a:xfrm>
              <a:off x="2976816" y="557762"/>
              <a:ext cx="502920" cy="5716709"/>
              <a:chOff x="6096000" y="522547"/>
              <a:chExt cx="502920" cy="5716709"/>
            </a:xfrm>
          </p:grpSpPr>
          <p:grpSp>
            <p:nvGrpSpPr>
              <p:cNvPr id="80" name="Groupe 79">
                <a:extLst>
                  <a:ext uri="{FF2B5EF4-FFF2-40B4-BE49-F238E27FC236}">
                    <a16:creationId xmlns:a16="http://schemas.microsoft.com/office/drawing/2014/main" id="{7A16D282-572D-04FE-6132-C4FEAA085983}"/>
                  </a:ext>
                </a:extLst>
              </p:cNvPr>
              <p:cNvGrpSpPr/>
              <p:nvPr/>
            </p:nvGrpSpPr>
            <p:grpSpPr>
              <a:xfrm>
                <a:off x="6096000" y="522547"/>
                <a:ext cx="502920" cy="2478024"/>
                <a:chOff x="8854440" y="2151888"/>
                <a:chExt cx="502920" cy="2478024"/>
              </a:xfrm>
            </p:grpSpPr>
            <p:sp>
              <p:nvSpPr>
                <p:cNvPr id="87" name="Ellipse 86">
                  <a:extLst>
                    <a:ext uri="{FF2B5EF4-FFF2-40B4-BE49-F238E27FC236}">
                      <a16:creationId xmlns:a16="http://schemas.microsoft.com/office/drawing/2014/main" id="{9F4E28FA-3AAB-416F-B2DF-4A87625A7F56}"/>
                    </a:ext>
                  </a:extLst>
                </p:cNvPr>
                <p:cNvSpPr/>
                <p:nvPr/>
              </p:nvSpPr>
              <p:spPr>
                <a:xfrm>
                  <a:off x="8854440" y="2813304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88" name="Ellipse 87">
                  <a:extLst>
                    <a:ext uri="{FF2B5EF4-FFF2-40B4-BE49-F238E27FC236}">
                      <a16:creationId xmlns:a16="http://schemas.microsoft.com/office/drawing/2014/main" id="{28B0FB8F-FB21-F5AE-C953-B967999D029F}"/>
                    </a:ext>
                  </a:extLst>
                </p:cNvPr>
                <p:cNvSpPr/>
                <p:nvPr/>
              </p:nvSpPr>
              <p:spPr>
                <a:xfrm>
                  <a:off x="8854440" y="2151888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89" name="Ellipse 88">
                  <a:extLst>
                    <a:ext uri="{FF2B5EF4-FFF2-40B4-BE49-F238E27FC236}">
                      <a16:creationId xmlns:a16="http://schemas.microsoft.com/office/drawing/2014/main" id="{73EBFAB2-4EEA-05E6-C71C-035860009D94}"/>
                    </a:ext>
                  </a:extLst>
                </p:cNvPr>
                <p:cNvSpPr/>
                <p:nvPr/>
              </p:nvSpPr>
              <p:spPr>
                <a:xfrm>
                  <a:off x="8854440" y="3474720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90" name="Ellipse 89">
                  <a:extLst>
                    <a:ext uri="{FF2B5EF4-FFF2-40B4-BE49-F238E27FC236}">
                      <a16:creationId xmlns:a16="http://schemas.microsoft.com/office/drawing/2014/main" id="{3C90098E-939C-0F7E-32D3-91A9E26675DA}"/>
                    </a:ext>
                  </a:extLst>
                </p:cNvPr>
                <p:cNvSpPr/>
                <p:nvPr/>
              </p:nvSpPr>
              <p:spPr>
                <a:xfrm>
                  <a:off x="8854440" y="4136136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grpSp>
            <p:nvGrpSpPr>
              <p:cNvPr id="81" name="Groupe 80">
                <a:extLst>
                  <a:ext uri="{FF2B5EF4-FFF2-40B4-BE49-F238E27FC236}">
                    <a16:creationId xmlns:a16="http://schemas.microsoft.com/office/drawing/2014/main" id="{4E650A58-5775-9F76-4863-95A3EE7D6D78}"/>
                  </a:ext>
                </a:extLst>
              </p:cNvPr>
              <p:cNvGrpSpPr/>
              <p:nvPr/>
            </p:nvGrpSpPr>
            <p:grpSpPr>
              <a:xfrm>
                <a:off x="6096000" y="3131635"/>
                <a:ext cx="502920" cy="2478024"/>
                <a:chOff x="8854440" y="2151888"/>
                <a:chExt cx="502920" cy="2478024"/>
              </a:xfrm>
            </p:grpSpPr>
            <p:sp>
              <p:nvSpPr>
                <p:cNvPr id="83" name="Ellipse 82">
                  <a:extLst>
                    <a:ext uri="{FF2B5EF4-FFF2-40B4-BE49-F238E27FC236}">
                      <a16:creationId xmlns:a16="http://schemas.microsoft.com/office/drawing/2014/main" id="{1C415125-E6D2-0818-8FE6-856398F172A9}"/>
                    </a:ext>
                  </a:extLst>
                </p:cNvPr>
                <p:cNvSpPr/>
                <p:nvPr/>
              </p:nvSpPr>
              <p:spPr>
                <a:xfrm>
                  <a:off x="8854440" y="2813304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84" name="Ellipse 83">
                  <a:extLst>
                    <a:ext uri="{FF2B5EF4-FFF2-40B4-BE49-F238E27FC236}">
                      <a16:creationId xmlns:a16="http://schemas.microsoft.com/office/drawing/2014/main" id="{DF2220B2-3B94-E2F2-1175-8BBED4D0BA97}"/>
                    </a:ext>
                  </a:extLst>
                </p:cNvPr>
                <p:cNvSpPr/>
                <p:nvPr/>
              </p:nvSpPr>
              <p:spPr>
                <a:xfrm>
                  <a:off x="8854440" y="2151888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85" name="Ellipse 84">
                  <a:extLst>
                    <a:ext uri="{FF2B5EF4-FFF2-40B4-BE49-F238E27FC236}">
                      <a16:creationId xmlns:a16="http://schemas.microsoft.com/office/drawing/2014/main" id="{F04A66E3-9DF3-A359-DCB4-DE54C8C5436B}"/>
                    </a:ext>
                  </a:extLst>
                </p:cNvPr>
                <p:cNvSpPr/>
                <p:nvPr/>
              </p:nvSpPr>
              <p:spPr>
                <a:xfrm>
                  <a:off x="8854440" y="3474720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86" name="Ellipse 85">
                  <a:extLst>
                    <a:ext uri="{FF2B5EF4-FFF2-40B4-BE49-F238E27FC236}">
                      <a16:creationId xmlns:a16="http://schemas.microsoft.com/office/drawing/2014/main" id="{FB499B29-EBED-0E55-3CA1-D55F9878CA4D}"/>
                    </a:ext>
                  </a:extLst>
                </p:cNvPr>
                <p:cNvSpPr/>
                <p:nvPr/>
              </p:nvSpPr>
              <p:spPr>
                <a:xfrm>
                  <a:off x="8854440" y="4136136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sp>
            <p:nvSpPr>
              <p:cNvPr id="82" name="Ellipse 81">
                <a:extLst>
                  <a:ext uri="{FF2B5EF4-FFF2-40B4-BE49-F238E27FC236}">
                    <a16:creationId xmlns:a16="http://schemas.microsoft.com/office/drawing/2014/main" id="{3B06F89F-5D9C-F436-5582-BF99EC801733}"/>
                  </a:ext>
                </a:extLst>
              </p:cNvPr>
              <p:cNvSpPr/>
              <p:nvPr/>
            </p:nvSpPr>
            <p:spPr>
              <a:xfrm>
                <a:off x="6096000" y="5745480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BEF8399D-3562-A25B-AAD1-D4597BF651D9}"/>
                    </a:ext>
                  </a:extLst>
                </p:cNvPr>
                <p:cNvSpPr txBox="1"/>
                <p:nvPr/>
              </p:nvSpPr>
              <p:spPr>
                <a:xfrm>
                  <a:off x="2949287" y="580437"/>
                  <a:ext cx="442723" cy="39927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BEF8399D-3562-A25B-AAD1-D4597BF651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9287" y="580437"/>
                  <a:ext cx="442723" cy="39927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8BE5637A-7686-E851-5EE9-A97C78D11CE1}"/>
                    </a:ext>
                  </a:extLst>
                </p:cNvPr>
                <p:cNvSpPr txBox="1"/>
                <p:nvPr/>
              </p:nvSpPr>
              <p:spPr>
                <a:xfrm>
                  <a:off x="2921570" y="1261815"/>
                  <a:ext cx="442723" cy="397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8BE5637A-7686-E851-5EE9-A97C78D11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1570" y="1261815"/>
                  <a:ext cx="442723" cy="3970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60C69E12-94E4-33FC-3A9D-73D4CB4A8AB9}"/>
                </a:ext>
              </a:extLst>
            </p:cNvPr>
            <p:cNvGrpSpPr/>
            <p:nvPr/>
          </p:nvGrpSpPr>
          <p:grpSpPr>
            <a:xfrm>
              <a:off x="406336" y="536426"/>
              <a:ext cx="502920" cy="5716709"/>
              <a:chOff x="6096000" y="522547"/>
              <a:chExt cx="502920" cy="5716709"/>
            </a:xfrm>
          </p:grpSpPr>
          <p:grpSp>
            <p:nvGrpSpPr>
              <p:cNvPr id="69" name="Groupe 68">
                <a:extLst>
                  <a:ext uri="{FF2B5EF4-FFF2-40B4-BE49-F238E27FC236}">
                    <a16:creationId xmlns:a16="http://schemas.microsoft.com/office/drawing/2014/main" id="{3EFDEA56-3134-4971-E344-E948E44B8531}"/>
                  </a:ext>
                </a:extLst>
              </p:cNvPr>
              <p:cNvGrpSpPr/>
              <p:nvPr/>
            </p:nvGrpSpPr>
            <p:grpSpPr>
              <a:xfrm>
                <a:off x="6096000" y="522547"/>
                <a:ext cx="502920" cy="2478024"/>
                <a:chOff x="8854440" y="2151888"/>
                <a:chExt cx="502920" cy="2478024"/>
              </a:xfrm>
            </p:grpSpPr>
            <p:sp>
              <p:nvSpPr>
                <p:cNvPr id="76" name="Ellipse 75">
                  <a:extLst>
                    <a:ext uri="{FF2B5EF4-FFF2-40B4-BE49-F238E27FC236}">
                      <a16:creationId xmlns:a16="http://schemas.microsoft.com/office/drawing/2014/main" id="{1590E5C5-7CDA-3008-2CE7-B92EAE68C1EE}"/>
                    </a:ext>
                  </a:extLst>
                </p:cNvPr>
                <p:cNvSpPr/>
                <p:nvPr/>
              </p:nvSpPr>
              <p:spPr>
                <a:xfrm>
                  <a:off x="8854440" y="2813304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77" name="Ellipse 76">
                  <a:extLst>
                    <a:ext uri="{FF2B5EF4-FFF2-40B4-BE49-F238E27FC236}">
                      <a16:creationId xmlns:a16="http://schemas.microsoft.com/office/drawing/2014/main" id="{BCB73C48-2C31-8817-EC43-575CBF169EC2}"/>
                    </a:ext>
                  </a:extLst>
                </p:cNvPr>
                <p:cNvSpPr/>
                <p:nvPr/>
              </p:nvSpPr>
              <p:spPr>
                <a:xfrm>
                  <a:off x="8854440" y="2151888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78" name="Ellipse 77">
                  <a:extLst>
                    <a:ext uri="{FF2B5EF4-FFF2-40B4-BE49-F238E27FC236}">
                      <a16:creationId xmlns:a16="http://schemas.microsoft.com/office/drawing/2014/main" id="{2D9927AF-E026-CA7D-41F4-00E8541ADE75}"/>
                    </a:ext>
                  </a:extLst>
                </p:cNvPr>
                <p:cNvSpPr/>
                <p:nvPr/>
              </p:nvSpPr>
              <p:spPr>
                <a:xfrm>
                  <a:off x="8854440" y="3474720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79" name="Ellipse 78">
                  <a:extLst>
                    <a:ext uri="{FF2B5EF4-FFF2-40B4-BE49-F238E27FC236}">
                      <a16:creationId xmlns:a16="http://schemas.microsoft.com/office/drawing/2014/main" id="{DEE66215-638C-431B-E573-1BA9E33252F3}"/>
                    </a:ext>
                  </a:extLst>
                </p:cNvPr>
                <p:cNvSpPr/>
                <p:nvPr/>
              </p:nvSpPr>
              <p:spPr>
                <a:xfrm>
                  <a:off x="8854440" y="4136136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grpSp>
            <p:nvGrpSpPr>
              <p:cNvPr id="70" name="Groupe 69">
                <a:extLst>
                  <a:ext uri="{FF2B5EF4-FFF2-40B4-BE49-F238E27FC236}">
                    <a16:creationId xmlns:a16="http://schemas.microsoft.com/office/drawing/2014/main" id="{B1F7BC0E-4854-8FA4-E061-6E66C805B662}"/>
                  </a:ext>
                </a:extLst>
              </p:cNvPr>
              <p:cNvGrpSpPr/>
              <p:nvPr/>
            </p:nvGrpSpPr>
            <p:grpSpPr>
              <a:xfrm>
                <a:off x="6096000" y="3131635"/>
                <a:ext cx="502920" cy="2478024"/>
                <a:chOff x="8854440" y="2151888"/>
                <a:chExt cx="502920" cy="2478024"/>
              </a:xfrm>
            </p:grpSpPr>
            <p:sp>
              <p:nvSpPr>
                <p:cNvPr id="72" name="Ellipse 71">
                  <a:extLst>
                    <a:ext uri="{FF2B5EF4-FFF2-40B4-BE49-F238E27FC236}">
                      <a16:creationId xmlns:a16="http://schemas.microsoft.com/office/drawing/2014/main" id="{D179ADD0-B1E1-5F05-CA81-AA015DBC3600}"/>
                    </a:ext>
                  </a:extLst>
                </p:cNvPr>
                <p:cNvSpPr/>
                <p:nvPr/>
              </p:nvSpPr>
              <p:spPr>
                <a:xfrm>
                  <a:off x="8854440" y="2813304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73" name="Ellipse 72">
                  <a:extLst>
                    <a:ext uri="{FF2B5EF4-FFF2-40B4-BE49-F238E27FC236}">
                      <a16:creationId xmlns:a16="http://schemas.microsoft.com/office/drawing/2014/main" id="{A237BD1E-DAC7-8E56-1420-4A1994CC3F66}"/>
                    </a:ext>
                  </a:extLst>
                </p:cNvPr>
                <p:cNvSpPr/>
                <p:nvPr/>
              </p:nvSpPr>
              <p:spPr>
                <a:xfrm>
                  <a:off x="8854440" y="2151888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74" name="Ellipse 73">
                  <a:extLst>
                    <a:ext uri="{FF2B5EF4-FFF2-40B4-BE49-F238E27FC236}">
                      <a16:creationId xmlns:a16="http://schemas.microsoft.com/office/drawing/2014/main" id="{FD7C8912-C894-10E2-6722-780B15910912}"/>
                    </a:ext>
                  </a:extLst>
                </p:cNvPr>
                <p:cNvSpPr/>
                <p:nvPr/>
              </p:nvSpPr>
              <p:spPr>
                <a:xfrm>
                  <a:off x="8854440" y="3474720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75" name="Ellipse 74">
                  <a:extLst>
                    <a:ext uri="{FF2B5EF4-FFF2-40B4-BE49-F238E27FC236}">
                      <a16:creationId xmlns:a16="http://schemas.microsoft.com/office/drawing/2014/main" id="{D6CA6522-F61E-0285-CAE2-998BF3EE518F}"/>
                    </a:ext>
                  </a:extLst>
                </p:cNvPr>
                <p:cNvSpPr/>
                <p:nvPr/>
              </p:nvSpPr>
              <p:spPr>
                <a:xfrm>
                  <a:off x="8854440" y="4136136"/>
                  <a:ext cx="502920" cy="493776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sp>
            <p:nvSpPr>
              <p:cNvPr id="71" name="Ellipse 70">
                <a:extLst>
                  <a:ext uri="{FF2B5EF4-FFF2-40B4-BE49-F238E27FC236}">
                    <a16:creationId xmlns:a16="http://schemas.microsoft.com/office/drawing/2014/main" id="{B7BE81AE-BAF8-FF9D-214A-DFDF02E29C20}"/>
                  </a:ext>
                </a:extLst>
              </p:cNvPr>
              <p:cNvSpPr/>
              <p:nvPr/>
            </p:nvSpPr>
            <p:spPr>
              <a:xfrm>
                <a:off x="6096000" y="5745480"/>
                <a:ext cx="502920" cy="493776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0C058EC7-F04C-D494-F2C2-8E1268C315CE}"/>
                </a:ext>
              </a:extLst>
            </p:cNvPr>
            <p:cNvGrpSpPr/>
            <p:nvPr/>
          </p:nvGrpSpPr>
          <p:grpSpPr>
            <a:xfrm>
              <a:off x="1024669" y="767892"/>
              <a:ext cx="1840798" cy="5147394"/>
              <a:chOff x="6715125" y="855303"/>
              <a:chExt cx="1840798" cy="5147394"/>
            </a:xfrm>
          </p:grpSpPr>
          <p:cxnSp>
            <p:nvCxnSpPr>
              <p:cNvPr id="60" name="Connecteur droit avec flèche 59">
                <a:extLst>
                  <a:ext uri="{FF2B5EF4-FFF2-40B4-BE49-F238E27FC236}">
                    <a16:creationId xmlns:a16="http://schemas.microsoft.com/office/drawing/2014/main" id="{6565C242-35E4-4F4D-81E0-790DE0AF6C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5224" y="855303"/>
                <a:ext cx="1795650" cy="343152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necteur droit avec flèche 60">
                <a:extLst>
                  <a:ext uri="{FF2B5EF4-FFF2-40B4-BE49-F238E27FC236}">
                    <a16:creationId xmlns:a16="http://schemas.microsoft.com/office/drawing/2014/main" id="{45D25C41-58BB-5DEA-7101-C59A8F2202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75322" y="1430851"/>
                <a:ext cx="1753175" cy="28559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necteur droit avec flèche 61">
                <a:extLst>
                  <a:ext uri="{FF2B5EF4-FFF2-40B4-BE49-F238E27FC236}">
                    <a16:creationId xmlns:a16="http://schemas.microsoft.com/office/drawing/2014/main" id="{69284A56-EC31-DF40-331C-37CF24D110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2748" y="2103120"/>
                <a:ext cx="1738126" cy="21547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necteur droit avec flèche 62">
                <a:extLst>
                  <a:ext uri="{FF2B5EF4-FFF2-40B4-BE49-F238E27FC236}">
                    <a16:creationId xmlns:a16="http://schemas.microsoft.com/office/drawing/2014/main" id="{268769B3-F406-A506-D65B-1C64D13B40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2743" y="2813892"/>
                <a:ext cx="1753180" cy="146359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necteur droit avec flèche 63">
                <a:extLst>
                  <a:ext uri="{FF2B5EF4-FFF2-40B4-BE49-F238E27FC236}">
                    <a16:creationId xmlns:a16="http://schemas.microsoft.com/office/drawing/2014/main" id="{66AAA206-3E89-5252-64C0-77DB698496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82842" y="3396977"/>
                <a:ext cx="1773076" cy="8463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necteur droit avec flèche 64">
                <a:extLst>
                  <a:ext uri="{FF2B5EF4-FFF2-40B4-BE49-F238E27FC236}">
                    <a16:creationId xmlns:a16="http://schemas.microsoft.com/office/drawing/2014/main" id="{9E377364-C23C-FEAD-458E-437AD93FDF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97896" y="4023513"/>
                <a:ext cx="1758022" cy="23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necteur droit avec flèche 65">
                <a:extLst>
                  <a:ext uri="{FF2B5EF4-FFF2-40B4-BE49-F238E27FC236}">
                    <a16:creationId xmlns:a16="http://schemas.microsoft.com/office/drawing/2014/main" id="{4D50B393-F853-917E-EB7C-87CE86084C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15125" y="4240333"/>
                <a:ext cx="1813372" cy="48043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eur droit avec flèche 66">
                <a:extLst>
                  <a:ext uri="{FF2B5EF4-FFF2-40B4-BE49-F238E27FC236}">
                    <a16:creationId xmlns:a16="http://schemas.microsoft.com/office/drawing/2014/main" id="{DE9538D5-AB7A-6233-8390-0B2D622DBD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5037" y="4230624"/>
                <a:ext cx="1783460" cy="11705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necteur droit avec flèche 67">
                <a:extLst>
                  <a:ext uri="{FF2B5EF4-FFF2-40B4-BE49-F238E27FC236}">
                    <a16:creationId xmlns:a16="http://schemas.microsoft.com/office/drawing/2014/main" id="{B241645A-6F47-6C7E-EBF7-9D84E02E14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97896" y="4206223"/>
                <a:ext cx="1730601" cy="17964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ZoneTexte 53">
                  <a:extLst>
                    <a:ext uri="{FF2B5EF4-FFF2-40B4-BE49-F238E27FC236}">
                      <a16:creationId xmlns:a16="http://schemas.microsoft.com/office/drawing/2014/main" id="{E910FE76-265D-4919-9FC2-BD3E074C885F}"/>
                    </a:ext>
                  </a:extLst>
                </p:cNvPr>
                <p:cNvSpPr txBox="1"/>
                <p:nvPr/>
              </p:nvSpPr>
              <p:spPr>
                <a:xfrm>
                  <a:off x="2640199" y="370169"/>
                  <a:ext cx="442723" cy="33105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54" name="ZoneTexte 53">
                  <a:extLst>
                    <a:ext uri="{FF2B5EF4-FFF2-40B4-BE49-F238E27FC236}">
                      <a16:creationId xmlns:a16="http://schemas.microsoft.com/office/drawing/2014/main" id="{E910FE76-265D-4919-9FC2-BD3E074C88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0199" y="370169"/>
                  <a:ext cx="442723" cy="33105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EA412D6-2349-953C-A50C-370FE0EF5756}"/>
                    </a:ext>
                  </a:extLst>
                </p:cNvPr>
                <p:cNvSpPr txBox="1"/>
                <p:nvPr/>
              </p:nvSpPr>
              <p:spPr>
                <a:xfrm>
                  <a:off x="2629057" y="1080941"/>
                  <a:ext cx="442723" cy="3293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EA412D6-2349-953C-A50C-370FE0EF57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9057" y="1080941"/>
                  <a:ext cx="442723" cy="3293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5F78594F-0BA2-195E-F08E-AFEFE077627C}"/>
                    </a:ext>
                  </a:extLst>
                </p:cNvPr>
                <p:cNvSpPr txBox="1"/>
                <p:nvPr/>
              </p:nvSpPr>
              <p:spPr>
                <a:xfrm>
                  <a:off x="2650199" y="3632279"/>
                  <a:ext cx="442723" cy="362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5F78594F-0BA2-195E-F08E-AFEFE07762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0199" y="3632279"/>
                  <a:ext cx="442723" cy="36285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527C95C0-1D5A-6D70-0F0E-AD56C3E6385D}"/>
                    </a:ext>
                  </a:extLst>
                </p:cNvPr>
                <p:cNvSpPr txBox="1"/>
                <p:nvPr/>
              </p:nvSpPr>
              <p:spPr>
                <a:xfrm>
                  <a:off x="1075705" y="523005"/>
                  <a:ext cx="442723" cy="362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  <m:sup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527C95C0-1D5A-6D70-0F0E-AD56C3E638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05" y="523005"/>
                  <a:ext cx="442723" cy="362856"/>
                </a:xfrm>
                <a:prstGeom prst="rect">
                  <a:avLst/>
                </a:prstGeom>
                <a:blipFill>
                  <a:blip r:embed="rId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435025DF-C630-C917-06C1-0BC4FB85C310}"/>
                    </a:ext>
                  </a:extLst>
                </p:cNvPr>
                <p:cNvSpPr txBox="1"/>
                <p:nvPr/>
              </p:nvSpPr>
              <p:spPr>
                <a:xfrm>
                  <a:off x="1120426" y="1206019"/>
                  <a:ext cx="442723" cy="362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  <m:sup>
                            <m:r>
                              <a:rPr lang="fr-FR" sz="1400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435025DF-C630-C917-06C1-0BC4FB85C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0426" y="1206019"/>
                  <a:ext cx="442723" cy="36285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F88A850C-FB19-0207-A1E9-911CA70D7B5E}"/>
                    </a:ext>
                  </a:extLst>
                </p:cNvPr>
                <p:cNvSpPr txBox="1"/>
                <p:nvPr/>
              </p:nvSpPr>
              <p:spPr>
                <a:xfrm>
                  <a:off x="3023961" y="3861169"/>
                  <a:ext cx="442723" cy="42691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F88A850C-FB19-0207-A1E9-911CA70D7B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961" y="3861169"/>
                  <a:ext cx="442723" cy="426912"/>
                </a:xfrm>
                <a:prstGeom prst="rect">
                  <a:avLst/>
                </a:prstGeom>
                <a:blipFill>
                  <a:blip r:embed="rId10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E1E87A16-93A2-69B0-063C-D0DDE4237CD7}"/>
                  </a:ext>
                </a:extLst>
              </p:cNvPr>
              <p:cNvSpPr txBox="1"/>
              <p:nvPr/>
            </p:nvSpPr>
            <p:spPr>
              <a:xfrm>
                <a:off x="7193947" y="4583888"/>
                <a:ext cx="6096000" cy="2040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x-IV_mathan" sz="180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x-IV_mathan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d>
                      <m:r>
                        <a:rPr lang="x-IV_mathan" sz="1800" i="1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Sup>
                        <m:sSubSupPr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_1)</m:t>
                          </m:r>
                        </m:sup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x-IV_mathan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∗</m:t>
                          </m:r>
                          <m:sSubSup>
                            <m:sSubSupPr>
                              <m:ctrlPr>
                                <a:rPr lang="x-IV_mathan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x-IV_mathan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x-IV_mathan" sz="1800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x-IV_mathan" sz="1800" i="1">
                          <a:solidFill>
                            <a:srgbClr val="44546A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x-IV_mathan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x-IV_mathan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x-IV_mathan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 marL="0" marR="0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𝑖𝑚𝑎𝑔𝑒</m:t>
                          </m:r>
                        </m:sub>
                        <m:sup/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sup>
                        <m:e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</m:sSub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x-IV_mathan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E1E87A16-93A2-69B0-063C-D0DDE423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3947" y="4583888"/>
                <a:ext cx="6096000" cy="204062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7C3F13B-7A7A-B0E5-86B1-7D8A5A53BA5C}"/>
                  </a:ext>
                </a:extLst>
              </p:cNvPr>
              <p:cNvSpPr txBox="1"/>
              <p:nvPr/>
            </p:nvSpPr>
            <p:spPr>
              <a:xfrm>
                <a:off x="-329257" y="-279685"/>
                <a:ext cx="6274489" cy="732020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endParaRPr lang="fr-FR" sz="1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:  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(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⇒ 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∗−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400" b="0" dirty="0"/>
              </a:p>
              <a:p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: 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⇒ 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: 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den>
                          </m:f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f>
                            <m:f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  <m:sup/>
                              </m:sSubSup>
                            </m:num>
                            <m:den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⇒ 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e>
                          </m:d>
                          <m:r>
                            <m:rPr>
                              <m:nor/>
                            </m:rPr>
                            <a:rPr lang="fr-FR" sz="1400" dirty="0"/>
                            <m:t> </m:t>
                          </m:r>
                          <m:r>
                            <a:rPr lang="fr-FR" sz="1400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</m:nary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7C3F13B-7A7A-B0E5-86B1-7D8A5A53B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257" y="-279685"/>
                <a:ext cx="6274489" cy="732020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5293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8D6463-B2C9-3E77-B55E-2813FB592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214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dirty="0"/>
              <a:t>les formules de la diapo 2 marchent même pour la 1</a:t>
            </a:r>
            <a:r>
              <a:rPr lang="fr-FR" sz="1800" baseline="30000" dirty="0"/>
              <a:t>ère</a:t>
            </a:r>
            <a:r>
              <a:rPr lang="fr-FR" sz="1800" dirty="0"/>
              <a:t> (dans l’ordre de calcul) couche. Il faut juste avoir rentré les dérivées partielles du coût par rapport aux valeurs de la dernière couche :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06D4EE89-16A2-6FC9-3BC5-9A2313F55BA8}"/>
                  </a:ext>
                </a:extLst>
              </p:cNvPr>
              <p:cNvSpPr txBox="1"/>
              <p:nvPr/>
            </p:nvSpPr>
            <p:spPr>
              <a:xfrm>
                <a:off x="4124936" y="2767008"/>
                <a:ext cx="3329886" cy="27086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=−2 ∗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FR" b="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𝑖𝑚𝑎𝑔𝑒</m:t>
                            </m:r>
                          </m:sub>
                        </m:sSub>
                      </m:num>
                      <m:den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=−2 ∗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dirty="0"/>
                  <a:t> </a:t>
                </a:r>
              </a:p>
              <a:p>
                <a:endParaRPr lang="fr-FR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𝑖𝑚𝑎𝑔𝑒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=−2 ∗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   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𝐍</m:t>
                                  </m:r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den>
                          </m:f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=−2 ∗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1" i="0">
                                  <a:latin typeface="Cambria Math" panose="02040503050406030204" pitchFamily="18" charset="0"/>
                                </a:rPr>
                                <m:t>𝐲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fr-F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𝐍</m:t>
                                  </m:r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1" i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nor/>
                            </m:rPr>
                            <a:rPr lang="fr-FR" dirty="0"/>
                            <m:t>  </m:t>
                          </m:r>
                        </m:e>
                      </m:borderBox>
                    </m:oMath>
                  </m:oMathPara>
                </a14:m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06D4EE89-16A2-6FC9-3BC5-9A2313F55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936" y="2767008"/>
                <a:ext cx="3329886" cy="2708627"/>
              </a:xfrm>
              <a:prstGeom prst="rect">
                <a:avLst/>
              </a:prstGeom>
              <a:blipFill>
                <a:blip r:embed="rId2"/>
                <a:stretch>
                  <a:fillRect l="-1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24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38CF5FCD-70B5-2AE6-1BF9-178CD1B6B2BF}"/>
                  </a:ext>
                </a:extLst>
              </p:cNvPr>
              <p:cNvSpPr txBox="1"/>
              <p:nvPr/>
            </p:nvSpPr>
            <p:spPr>
              <a:xfrm>
                <a:off x="-304800" y="961905"/>
                <a:ext cx="6096000" cy="2645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8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∗−</m:t>
                      </m:r>
                      <m:sSubSup>
                        <m:sSubSup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8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fr-F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</m:sSub>
                        </m:num>
                        <m:den>
                          <m:r>
                            <a:rPr lang="fr-FR" sz="18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d>
                            <m:d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e>
                          </m:d>
                          <m:r>
                            <m:rPr>
                              <m:nor/>
                            </m:rPr>
                            <a:rPr lang="fr-FR" sz="1800" dirty="0"/>
                            <m:t> </m:t>
                          </m:r>
                          <m:r>
                            <a:rPr lang="fr-FR" sz="1800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</m:nary>
                      <m:f>
                        <m:f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𝑖𝑚𝑎𝑔𝑒</m:t>
                              </m:r>
                            </m:sub>
                            <m:sup/>
                          </m:sSubSup>
                        </m:num>
                        <m:den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38CF5FCD-70B5-2AE6-1BF9-178CD1B6B2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800" y="961905"/>
                <a:ext cx="6096000" cy="2645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07DA7150-D66A-FF20-4942-9B8EB2692FED}"/>
                  </a:ext>
                </a:extLst>
              </p:cNvPr>
              <p:cNvSpPr txBox="1"/>
              <p:nvPr/>
            </p:nvSpPr>
            <p:spPr>
              <a:xfrm>
                <a:off x="4997450" y="-438302"/>
                <a:ext cx="6765289" cy="755238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endParaRPr lang="fr-FR" sz="1000" dirty="0"/>
              </a:p>
              <a:p>
                <a:endParaRPr lang="x-IV_mathan" i="1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borderBox>
                      <m:borderBoxPr>
                        <m:ctrlPr>
                          <a:rPr lang="fr-FR" sz="180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f>
                          <m:f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sz="1800" i="1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𝑖𝑚𝑎𝑔𝑒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sz="180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den>
                        </m:f>
                        <m:r>
                          <a:rPr lang="fr-FR" sz="180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sz="1800" i="1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image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sz="180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den>
                        </m:f>
                        <m:r>
                          <a:rPr lang="fr-FR" sz="180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⊙</m:t>
                        </m:r>
                        <m:sSubSup>
                          <m:sSubSup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fr-FR" sz="180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fr-FR" sz="180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borderBox>
                  </m:oMath>
                </a14:m>
                <a:r>
                  <a:rPr lang="fr-FR" sz="1800" dirty="0">
                    <a:solidFill>
                      <a:srgbClr val="44546A"/>
                    </a:solidFill>
                    <a:effectLst/>
                    <a:latin typeface="Cambria Math" panose="02040503050406030204" pitchFamily="18" charset="0"/>
                  </a:rPr>
                  <a:t> </a:t>
                </a:r>
                <a:endParaRPr lang="x-IV_mathan" i="1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x-IV_mathan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x-IV_mathan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x-IV_mathan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=−</m:t>
                          </m:r>
                          <m:f>
                            <m:f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image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x-IV_mathan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x-IV_mathan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x-IV_mathan" i="1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  <a:endParaRPr lang="fr-F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sz="1800" i="1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180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800" b="0" i="1" smtClean="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fr-FR" sz="1800" i="1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1800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p>
                                      <m:r>
                                        <a:rPr lang="fr-FR" sz="1800">
                                          <a:solidFill>
                                            <a:srgbClr val="44546A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fr-FR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∗</m:t>
                          </m:r>
                          <m:f>
                            <m:f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image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180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</m:e>
                      </m:borderBox>
                    </m:oMath>
                  </m:oMathPara>
                </a14:m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endParaRPr lang="fr-FR" dirty="0">
                  <a:solidFill>
                    <a:srgbClr val="44546A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borderBox>
                      <m:borderBoxPr>
                        <m:ctrlPr>
                          <a:rPr lang="fr-FR" sz="180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f>
                          <m:f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sz="1800" i="1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𝑖𝑚𝑎𝑔𝑒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sz="180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den>
                        </m:f>
                        <m:r>
                          <a:rPr lang="fr-FR" sz="180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sz="1800" i="1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𝑖𝑚𝑎𝑔𝑒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sz="180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den>
                        </m:f>
                        <m:r>
                          <a:rPr lang="fr-FR" sz="180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⊙</m:t>
                        </m:r>
                        <m:sSubSup>
                          <m:sSubSup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FR" sz="180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d>
                          <m:dPr>
                            <m:ctrlPr>
                              <a:rPr lang="fr-FR" sz="1800" i="1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sz="1800" i="1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p>
                                <m:r>
                                  <a:rPr lang="fr-FR" sz="1800">
                                    <a:solidFill>
                                      <a:srgbClr val="44546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d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borderBox>
                  </m:oMath>
                </a14:m>
                <a:r>
                  <a:rPr lang="fr-FR" sz="1800" dirty="0">
                    <a:solidFill>
                      <a:srgbClr val="44546A"/>
                    </a:solidFill>
                    <a:effectLst/>
                    <a:latin typeface="Cambria Math" panose="02040503050406030204" pitchFamily="18" charset="0"/>
                  </a:rPr>
                  <a:t> </a:t>
                </a:r>
                <a:endParaRPr lang="x-IV_mathan" i="1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x-IV_mathan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x-IV_mathan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x-IV_mathan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=−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x-IV_mathan" i="1">
                                          <a:solidFill>
                                            <a:srgbClr val="44546A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x-IV_mathan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x-IV_mathan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𝑖𝑚𝑎𝑔𝑒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p>
                                        <m:sSupPr>
                                          <m:ctrlPr>
                                            <a:rPr lang="x-IV_mathan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fr-FR" b="0" i="1" smtClean="0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fr-FR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borderBox>
                    </m:oMath>
                  </m:oMathPara>
                </a14:m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sz="180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180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1800" b="0" i="0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image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180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fr-FR" sz="1800" b="0" i="1" smtClean="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800" b="0" i="1" smtClean="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sz="1800" b="0" i="1" smtClean="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borderBox>
                    </m:oMath>
                  </m:oMathPara>
                </a14:m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sz="180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rderBoxPr>
                        <m:e>
                          <m:sSup>
                            <m:sSupPr>
                              <m:ctrlPr>
                                <a:rPr lang="x-IV_mathan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p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x-IV_mathan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x-IV_mathan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x-IV_mathan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x-IV_mathan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x-IV_mathan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  <m:sup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x-IV_mathan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b="0" i="0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fr-FR" b="0" i="0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  <m:r>
                            <m:rPr>
                              <m:nor/>
                            </m:rPr>
                            <a:rPr lang="fr-FR" b="0" i="0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x-IV_mathan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borderBox>
                    </m:oMath>
                  </m:oMathPara>
                </a14:m>
                <a:endParaRPr lang="fr-FR" sz="180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rderBoxPr>
                        <m:e>
                          <m:sSup>
                            <m:sSupPr>
                              <m:ctrlPr>
                                <a:rPr lang="x-IV_mathan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𝐙</m:t>
                              </m:r>
                            </m:e>
                            <m:sup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𝐢</m:t>
                              </m:r>
                            </m:sup>
                          </m:sSup>
                          <m:r>
                            <a:rPr lang="x-IV_mathan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x-IV_mathan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𝐢</m:t>
                              </m:r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p>
                          <m:sSup>
                            <m:sSupPr>
                              <m:ctrlPr>
                                <a:rPr lang="x-IV_mathan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x-IV_mathan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x-IV_mathan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x-IV_mathan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  <m:sup>
                              <m:r>
                                <a:rPr lang="x-IV_mathan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x-IV_mathan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x-IV_mathan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𝐁</m:t>
                              </m:r>
                            </m:e>
                            <m:sup>
                              <m:r>
                                <a:rPr lang="x-IV_mathan" b="1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𝐢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x-IV_mathan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borderBox>
                    </m:oMath>
                  </m:oMathPara>
                </a14:m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𝑏𝑎𝑡𝑐h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b="1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𝐁</m:t>
                                  </m:r>
                                </m:e>
                                <m:sup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𝐢</m:t>
                                  </m:r>
                                </m:sup>
                              </m:sSup>
                            </m:den>
                          </m:f>
                          <m:r>
                            <a:rPr lang="fr-FR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=−</m:t>
                          </m:r>
                          <m:f>
                            <m:f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𝑏𝑎𝑡𝑐h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b="1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𝐢</m:t>
                                  </m:r>
                                </m:sup>
                              </m:sSup>
                            </m:den>
                          </m:f>
                          <m:r>
                            <a:rPr lang="fr-FR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b="1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𝐙</m:t>
                                  </m:r>
                                </m:e>
                                <m:sup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𝐢</m:t>
                                  </m:r>
                                </m:sup>
                              </m:sSup>
                            </m:e>
                          </m:d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borderBox>
                    </m:oMath>
                  </m:oMathPara>
                </a14:m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𝑏𝑎𝑡𝑐h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b="1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𝐢</m:t>
                                  </m:r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den>
                          </m:f>
                          <m:r>
                            <a:rPr lang="fr-FR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=−</m:t>
                          </m:r>
                          <m:f>
                            <m:f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𝑏𝑎𝑡𝑐h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b="1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𝐁</m:t>
                                  </m:r>
                                </m:e>
                                <m:sup>
                                  <m:r>
                                    <a:rPr lang="fr-FR" b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𝐢</m:t>
                                  </m:r>
                                </m:sup>
                              </m:sSup>
                            </m:den>
                          </m:f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borderBox>
                    </m:oMath>
                  </m:oMathPara>
                </a14:m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endParaRPr lang="fr-FR" sz="180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endParaRPr lang="fr-FR" sz="1000" dirty="0"/>
              </a:p>
            </p:txBody>
          </p:sp>
        </mc:Choice>
        <mc:Fallback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07DA7150-D66A-FF20-4942-9B8EB2692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7450" y="-438302"/>
                <a:ext cx="6765289" cy="7552389"/>
              </a:xfrm>
              <a:prstGeom prst="rect">
                <a:avLst/>
              </a:prstGeom>
              <a:blipFill>
                <a:blip r:embed="rId3"/>
                <a:stretch>
                  <a:fillRect l="-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ZoneTexte 5">
            <a:extLst>
              <a:ext uri="{FF2B5EF4-FFF2-40B4-BE49-F238E27FC236}">
                <a16:creationId xmlns:a16="http://schemas.microsoft.com/office/drawing/2014/main" id="{0B65AF01-0041-46AC-DDDD-D15F475790D4}"/>
              </a:ext>
            </a:extLst>
          </p:cNvPr>
          <p:cNvSpPr txBox="1"/>
          <p:nvPr/>
        </p:nvSpPr>
        <p:spPr>
          <a:xfrm>
            <a:off x="1005840" y="297180"/>
            <a:ext cx="10309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Vectorisation des opérations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55C33EB-70EF-AAC0-5ADF-86D8119D6C04}"/>
              </a:ext>
            </a:extLst>
          </p:cNvPr>
          <p:cNvSpPr txBox="1"/>
          <p:nvPr/>
        </p:nvSpPr>
        <p:spPr>
          <a:xfrm>
            <a:off x="646981" y="4451230"/>
            <a:ext cx="3528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rq</a:t>
            </a:r>
            <a:r>
              <a:rPr lang="fr-FR" dirty="0"/>
              <a:t> : toutes les variables sont à b (batch) fixé.</a:t>
            </a:r>
          </a:p>
        </p:txBody>
      </p:sp>
    </p:spTree>
    <p:extLst>
      <p:ext uri="{BB962C8B-B14F-4D97-AF65-F5344CB8AC3E}">
        <p14:creationId xmlns:p14="http://schemas.microsoft.com/office/powerpoint/2010/main" val="4294912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2AF7E4D-21CC-CCB4-4869-A222310E5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300" y="1923102"/>
            <a:ext cx="7002700" cy="48328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610A3CF7-3AE6-67D2-7141-1A6A6CBEB8DF}"/>
                  </a:ext>
                </a:extLst>
              </p:cNvPr>
              <p:cNvSpPr txBox="1"/>
              <p:nvPr/>
            </p:nvSpPr>
            <p:spPr>
              <a:xfrm>
                <a:off x="176022" y="310143"/>
                <a:ext cx="6094476" cy="54357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sz="180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180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=−</m:t>
                          </m:r>
                          <m:f>
                            <m:f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180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80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fr-FR" sz="1800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fr-FR" sz="1800" i="1">
                                  <a:solidFill>
                                    <a:srgbClr val="44546A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sz="1800" i="1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fr-FR" sz="1800">
                                      <a:solidFill>
                                        <a:srgbClr val="44546A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d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fr-FR" sz="1800" b="0" i="1" smtClean="0">
                              <a:solidFill>
                                <a:srgbClr val="44546A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borderBox>
                    </m:oMath>
                  </m:oMathPara>
                </a14:m>
                <a:endParaRPr lang="fr-FR" sz="1800" b="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endParaRPr lang="fr-FR" sz="1800" b="0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</a:endParaRPr>
              </a:p>
              <a:p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On note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𝑏𝑎𝑡𝑐h</m:t>
                            </m:r>
                          </m:sub>
                        </m:sSub>
                      </m:num>
                      <m:den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1" i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𝐁</m:t>
                            </m:r>
                          </m:e>
                          <m:sup>
                            <m:r>
                              <a:rPr lang="fr-FR" b="1" i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𝐢</m:t>
                            </m:r>
                          </m:sup>
                        </m:sSup>
                      </m:den>
                    </m:f>
                    <m:r>
                      <a:rPr lang="fr-FR" b="0" i="1" smtClean="0">
                        <a:solidFill>
                          <a:srgbClr val="44546A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fr-FR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𝑖𝑚𝑎𝑔𝑒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b>
                        <m:r>
                          <a:rPr lang="fr-FR" b="0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⟦"/>
                            <m:endChr m:val="⟧"/>
                            <m:ctrlP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1,  </m:t>
                            </m:r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𝑙𝑒𝑛</m:t>
                            </m:r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𝑏𝑎𝑡𝑐h</m:t>
                            </m:r>
                            <m:r>
                              <a:rPr lang="fr-FR" b="0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sub>
                    </m:sSub>
                  </m:oMath>
                </a14:m>
                <a:r>
                  <a:rPr lang="fr-FR" sz="1800" b="0" dirty="0">
                    <a:solidFill>
                      <a:srgbClr val="44546A"/>
                    </a:solidFill>
                    <a:effectLst/>
                    <a:latin typeface="Cambria Math" panose="02040503050406030204" pitchFamily="18" charset="0"/>
                  </a:rPr>
                  <a:t>,</a:t>
                </a:r>
                <a:r>
                  <a:rPr lang="fr-FR" dirty="0">
                    <a:solidFill>
                      <a:srgbClr val="44546A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0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batch</m:t>
                            </m:r>
                          </m:sub>
                        </m:sSub>
                      </m:num>
                      <m:den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1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p>
                            <m:r>
                              <a:rPr lang="fr-FR" b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𝐢</m:t>
                            </m:r>
                          </m:sup>
                        </m:sSup>
                      </m:den>
                    </m:f>
                    <m:r>
                      <a:rPr lang="fr-FR" i="1">
                        <a:solidFill>
                          <a:srgbClr val="44546A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fr-FR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𝑖𝑚𝑎𝑔𝑒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b>
                        <m: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⟦"/>
                            <m:endChr m:val="⟧"/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𝑙𝑒𝑛</m:t>
                            </m:r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𝑏𝑎𝑡𝑐h</m:t>
                            </m:r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sub>
                    </m:sSub>
                  </m:oMath>
                </a14:m>
                <a:r>
                  <a:rPr lang="fr-FR" sz="1800" b="0" dirty="0">
                    <a:solidFill>
                      <a:srgbClr val="44546A"/>
                    </a:solidFill>
                    <a:effectLst/>
                    <a:latin typeface="Cambria Math" panose="02040503050406030204" pitchFamily="18" charset="0"/>
                  </a:rPr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fr-FR" sz="1800" b="0" i="1" smtClean="0">
                        <a:solidFill>
                          <a:srgbClr val="44546A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⟦"/>
                            <m:endChr m:val="⟧"/>
                            <m:ctrlPr>
                              <a:rPr lang="fr-FR" sz="1800" b="0" i="1" smtClean="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p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sz="1800" b="0" i="1" smtClean="0">
                            <a:solidFill>
                              <a:srgbClr val="44546A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⟦"/>
                            <m:endChr m:val="⟧"/>
                            <m:ctrlPr>
                              <a:rPr lang="fr-FR" sz="1800" b="0" i="1" smtClean="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b="0" i="1" smtClean="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1,  </m:t>
                            </m:r>
                            <m:r>
                              <a:rPr lang="fr-FR" sz="1800" b="0" i="1" smtClean="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𝑙𝑒𝑛</m:t>
                            </m:r>
                            <m:r>
                              <a:rPr lang="fr-FR" sz="1800" b="0" i="1" smtClean="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800" b="0" i="1" smtClean="0">
                                <a:solidFill>
                                  <a:srgbClr val="44546A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𝑏𝑎𝑡𝑐h</m:t>
                            </m:r>
                          </m:e>
                        </m:d>
                      </m:sub>
                    </m:sSub>
                  </m:oMath>
                </a14:m>
                <a:r>
                  <a:rPr lang="fr-FR" sz="1800" b="0" dirty="0">
                    <a:solidFill>
                      <a:srgbClr val="44546A"/>
                    </a:solidFill>
                    <a:effectLst/>
                    <a:latin typeface="Cambria Math" panose="02040503050406030204" pitchFamily="18" charset="0"/>
                  </a:rPr>
                  <a:t> </a:t>
                </a:r>
              </a:p>
              <a:p>
                <a:r>
                  <a:rPr lang="fr-FR" sz="1800" dirty="0">
                    <a:solidFill>
                      <a:srgbClr val="44546A"/>
                    </a:solidFill>
                    <a:effectLst/>
                    <a:latin typeface="Cambria Math" panose="02040503050406030204" pitchFamily="18" charset="0"/>
                  </a:rPr>
                  <a:t> =&gt; </a:t>
                </a:r>
                <a14:m>
                  <m:oMath xmlns:m="http://schemas.openxmlformats.org/officeDocument/2006/math">
                    <m:borderBox>
                      <m:borderBoxPr>
                        <m:ctrlP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f>
                          <m:f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𝑏𝑎𝑡𝑐h</m:t>
                                </m:r>
                              </m:sub>
                            </m:sSub>
                          </m:num>
                          <m:den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b="1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𝐁</m:t>
                                </m:r>
                              </m:e>
                              <m:sup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𝐢</m:t>
                                </m:r>
                              </m:sup>
                            </m:sSup>
                          </m:den>
                        </m:f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𝑏𝑎𝑡𝑐h</m:t>
                                </m:r>
                              </m:sub>
                            </m:sSub>
                          </m:num>
                          <m:den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b="1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𝐢</m:t>
                                </m:r>
                              </m:sup>
                            </m:sSup>
                          </m:den>
                        </m:f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⊙</m:t>
                        </m:r>
                        <m:sSubSup>
                          <m:sSubSup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d>
                          <m:d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b="1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𝐙</m:t>
                                </m:r>
                              </m:e>
                              <m:sup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𝐢</m:t>
                                </m:r>
                              </m:sup>
                            </m:sSup>
                          </m:e>
                        </m:d>
                        <m: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borderBox>
                  </m:oMath>
                </a14:m>
                <a:endParaRPr lang="x-IV_mathan" i="1" dirty="0">
                  <a:solidFill>
                    <a:srgbClr val="44546A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" i="1" dirty="0">
                  <a:solidFill>
                    <a:srgbClr val="44546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𝑏𝑎𝑡𝑐h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den>
                          </m:f>
                          <m:r>
                            <a:rPr lang="fr-FR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=−</m:t>
                          </m:r>
                          <m:f>
                            <m:f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𝑏𝑎𝑡𝑐h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borderBox>
                    </m:oMath>
                  </m:oMathPara>
                </a14:m>
                <a:endParaRPr lang="x-IV_mathan" i="1" dirty="0">
                  <a:solidFill>
                    <a:srgbClr val="44546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buFont typeface="Symbol" panose="05050102010706020507" pitchFamily="18" charset="2"/>
                  <a:buChar char="Þ"/>
                </a:pPr>
                <a14:m>
                  <m:oMath xmlns:m="http://schemas.openxmlformats.org/officeDocument/2006/math">
                    <m:borderBox>
                      <m:borderBoxPr>
                        <m:ctrlP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f>
                          <m:f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𝑏𝑎𝑡𝑐h</m:t>
                                </m:r>
                              </m:sub>
                            </m:sSub>
                          </m:num>
                          <m:den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b="1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𝐢</m:t>
                                </m:r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p>
                            </m:sSup>
                          </m:den>
                        </m:f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𝑏𝑎𝑡𝑐h</m:t>
                                </m:r>
                              </m:sub>
                            </m:sSub>
                          </m:num>
                          <m:den>
                            <m:r>
                              <a:rPr lang="fr-FR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fr-FR" b="1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𝐁</m:t>
                                </m:r>
                              </m:e>
                              <m:sup>
                                <m:r>
                                  <a:rPr lang="fr-FR" b="1" i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</a:rPr>
                                  <m:t>𝐢</m:t>
                                </m:r>
                              </m:sup>
                            </m:sSup>
                          </m:den>
                        </m:f>
                        <m: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fr-FR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fr-FR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borderBox>
                  </m:oMath>
                </a14:m>
                <a:endParaRPr lang="fr-FR" dirty="0">
                  <a:solidFill>
                    <a:srgbClr val="44546A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Symbol" panose="05050102010706020507" pitchFamily="18" charset="2"/>
                  <a:buChar char="Þ"/>
                </a:pPr>
                <a:endParaRPr lang="fr-FR" dirty="0">
                  <a:solidFill>
                    <a:srgbClr val="44546A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x-IV_mathan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x-IV_mathan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fr-FR" b="0" i="1" smtClean="0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𝑖𝑚𝑎𝑔𝑒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fr-FR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  <m:r>
                            <a:rPr lang="x-IV_mathan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=−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x-IV_mathan" i="1">
                                      <a:solidFill>
                                        <a:srgbClr val="44546A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x-IV_mathan" i="1">
                                          <a:solidFill>
                                            <a:srgbClr val="44546A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x-IV_mathan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x-IV_mathan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fr-FR" i="1" smtClean="0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𝑖𝑚𝑎𝑔𝑒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x-IV_mathan">
                                          <a:solidFill>
                                            <a:srgbClr val="44546A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p>
                                        <m:sSupPr>
                                          <m:ctrlPr>
                                            <a:rPr lang="x-IV_mathan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fr-FR" i="1">
                                              <a:solidFill>
                                                <a:srgbClr val="44546A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fr-FR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x-IV_mathan" i="1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x-IV_mathan">
                                  <a:solidFill>
                                    <a:srgbClr val="44546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fr-FR" i="1">
                              <a:solidFill>
                                <a:srgbClr val="44546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borderBox>
                    </m:oMath>
                  </m:oMathPara>
                </a14:m>
                <a:endParaRPr lang="fr-FR" dirty="0">
                  <a:solidFill>
                    <a:srgbClr val="44546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fr-FR" dirty="0">
                  <a:solidFill>
                    <a:srgbClr val="44546A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610A3CF7-3AE6-67D2-7141-1A6A6CBEB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022" y="310143"/>
                <a:ext cx="6094476" cy="5435719"/>
              </a:xfrm>
              <a:prstGeom prst="rect">
                <a:avLst/>
              </a:prstGeom>
              <a:blipFill>
                <a:blip r:embed="rId3"/>
                <a:stretch>
                  <a:fillRect l="-9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5B3349D5-E806-82B6-37A2-CC8624FEC90B}"/>
                  </a:ext>
                </a:extLst>
              </p:cNvPr>
              <p:cNvSpPr txBox="1"/>
              <p:nvPr/>
            </p:nvSpPr>
            <p:spPr>
              <a:xfrm>
                <a:off x="5591700" y="913013"/>
                <a:ext cx="6600300" cy="15342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x-IV_mathan" dirty="0">
                    <a:solidFill>
                      <a:srgbClr val="44546A"/>
                    </a:solidFill>
                    <a:ea typeface="Cambria Math" panose="02040503050406030204" pitchFamily="18" charset="0"/>
                  </a:rPr>
                  <a:t>=&gt; </a:t>
                </a:r>
                <a14:m>
                  <m:oMath xmlns:m="http://schemas.openxmlformats.org/officeDocument/2006/math">
                    <m:borderBox>
                      <m:borderBoxPr>
                        <m:ctrlPr>
                          <a:rPr lang="x-IV_mathan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rderBoxPr>
                      <m:e>
                        <m:f>
                          <m:fPr>
                            <m:ctrlPr>
                              <a:rPr lang="x-IV_mathan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x-IV_mathan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x-IV_mathan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x-IV_mathan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𝑏𝑎𝑡𝑐h</m:t>
                                </m:r>
                              </m:sub>
                            </m:sSub>
                          </m:num>
                          <m:den>
                            <m:r>
                              <a:rPr lang="x-IV_mathan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x-IV_mathan" b="1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p>
                                <m:r>
                                  <a:rPr lang="fr-FR" b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𝐢</m:t>
                                </m:r>
                                <m:r>
                                  <a:rPr lang="fr-FR" b="1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b="1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𝒃</m:t>
                                </m:r>
                              </m:sup>
                            </m:sSup>
                          </m:den>
                        </m:f>
                        <m:r>
                          <a:rPr lang="fr-FR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sSup>
                          <m:sSupPr>
                            <m:ctrlPr>
                              <a:rPr lang="x-IV_mathan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x-IV_mathan" i="1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x-IV_mathan" i="1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x-IV_mathan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x-IV_mathan" i="1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x-IV_mathan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fr-FR" b="0" i="1" smtClean="0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𝑏𝑎𝑡𝑐h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x-IV_mathan">
                                        <a:solidFill>
                                          <a:srgbClr val="44546A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p>
                                      <m:sSupPr>
                                        <m:ctrlPr>
                                          <a:rPr lang="x-IV_mathan" i="1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b="1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𝐁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solidFill>
                                              <a:srgbClr val="44546A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d>
                          </m:e>
                          <m:sup>
                            <m:sSub>
                              <m:sSubPr>
                                <m:ctrlPr>
                                  <a:rPr lang="fr-FR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fr-FR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fr-FR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fr-FR" b="1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0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fr-FR" b="1" i="0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𝐢</m:t>
                                </m:r>
                                <m:r>
                                  <a:rPr lang="fr-FR" b="1" i="0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b="1" i="0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sup>
                            </m:sSup>
                          </m:e>
                          <m:sup>
                            <m:sSub>
                              <m:sSubPr>
                                <m:ctrlPr>
                                  <a:rPr lang="fr-FR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44546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p>
                        </m:sSup>
                      </m:e>
                    </m:borderBox>
                  </m:oMath>
                </a14:m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, </a:t>
                </a:r>
                <a:r>
                  <a:rPr lang="fr-FR" dirty="0" err="1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where</a:t>
                </a:r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 R1 and R2 </a:t>
                </a:r>
                <a:r>
                  <a:rPr lang="fr-FR" dirty="0" err="1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represent</a:t>
                </a:r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 certain rotations in </a:t>
                </a:r>
                <a:r>
                  <a:rPr lang="fr-FR" dirty="0" err="1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space</a:t>
                </a:r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 and * the </a:t>
                </a:r>
                <a:r>
                  <a:rPr lang="fr-FR" dirty="0" err="1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usual</a:t>
                </a:r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 dot </a:t>
                </a:r>
                <a:r>
                  <a:rPr lang="fr-FR" dirty="0" err="1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product</a:t>
                </a:r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 in N-d (</a:t>
                </a:r>
                <a:r>
                  <a:rPr lang="fr-FR" dirty="0" err="1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sum</a:t>
                </a:r>
                <a:r>
                  <a:rPr lang="fr-FR" dirty="0">
                    <a:solidFill>
                      <a:srgbClr val="44546A"/>
                    </a:solidFill>
                    <a:latin typeface="Cambria Math" panose="02040503050406030204" pitchFamily="18" charset="0"/>
                  </a:rPr>
                  <a:t> over the second-to-last dimension of the first entry and the last dimension of the second entry).</a:t>
                </a:r>
                <a:endParaRPr lang="fr-FR" b="1" dirty="0"/>
              </a:p>
            </p:txBody>
          </p:sp>
        </mc:Choice>
        <mc:Fallback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5B3349D5-E806-82B6-37A2-CC8624FEC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700" y="913013"/>
                <a:ext cx="6600300" cy="1534266"/>
              </a:xfrm>
              <a:prstGeom prst="rect">
                <a:avLst/>
              </a:prstGeom>
              <a:blipFill>
                <a:blip r:embed="rId4"/>
                <a:stretch>
                  <a:fillRect l="-739" r="-369" b="-47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290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EC1A4314-2128-381B-0296-EE063A3C264C}"/>
                  </a:ext>
                </a:extLst>
              </p:cNvPr>
              <p:cNvSpPr txBox="1"/>
              <p:nvPr/>
            </p:nvSpPr>
            <p:spPr>
              <a:xfrm>
                <a:off x="416052" y="731520"/>
                <a:ext cx="3943580" cy="13783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den>
                      </m:f>
                      <m:r>
                        <a:rPr lang="fr-F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</m:oMathPara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:r>
                  <a:rPr lang="fr-FR" dirty="0"/>
                  <a:t>calculons cette valeur.</a:t>
                </a:r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EC1A4314-2128-381B-0296-EE063A3C26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52" y="731520"/>
                <a:ext cx="3943580" cy="1378326"/>
              </a:xfrm>
              <a:prstGeom prst="rect">
                <a:avLst/>
              </a:prstGeom>
              <a:blipFill>
                <a:blip r:embed="rId2"/>
                <a:stretch>
                  <a:fillRect l="-3555" b="-9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51908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9383</TotalTime>
  <Words>416</Words>
  <Application>Microsoft Office PowerPoint</Application>
  <PresentationFormat>Grand écran</PresentationFormat>
  <Paragraphs>110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Symbol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Anatole Melon</dc:creator>
  <cp:lastModifiedBy>Anatole Melon</cp:lastModifiedBy>
  <cp:revision>18</cp:revision>
  <dcterms:created xsi:type="dcterms:W3CDTF">2025-05-27T19:00:41Z</dcterms:created>
  <dcterms:modified xsi:type="dcterms:W3CDTF">2025-08-09T20:52:49Z</dcterms:modified>
</cp:coreProperties>
</file>